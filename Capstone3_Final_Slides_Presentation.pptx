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4370be763eb56db9_1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4370be763eb56db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c6f9e470d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c6f9e470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4370be763eb56db9_1_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4370be763eb56db9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4370be763eb56db9_1_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h4370be763eb56db9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4370be763eb56db9_1_5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h4370be763eb56db9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4370be763eb56db9_1_8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h4370be763eb56db9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4370be763eb56db9_1_6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h4370be763eb56db9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4370be763eb56db9_1_8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h4370be763eb56db9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4370be763eb56db9_1_1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h4370be763eb56db9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4370be763eb56db9_1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h4370be763eb56db9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4370be763eb56db9_1_10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h4370be763eb56db9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h4370be763eb56db9_1_1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h4370be763eb56db9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4370be763eb56db9_1_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h4370be763eb56db9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h4370be763eb56db9_1_1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h4370be763eb56db9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4370be763eb56db9_1_7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h4370be763eb56db9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4370be763eb56db9_1_1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h4370be763eb56db9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4370be763eb56db9_1_1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h4370be763eb56db9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h4370be763eb56db9_1_7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h4370be763eb56db9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4370be763eb56db9_1_1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h4370be763eb56db9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kaggle.com" TargetMode="External"/><Relationship Id="rId4" Type="http://schemas.openxmlformats.org/officeDocument/2006/relationships/hyperlink" Target="http://kaggle.com" TargetMode="External"/><Relationship Id="rId5" Type="http://schemas.openxmlformats.org/officeDocument/2006/relationships/hyperlink" Target="https://www.kaggle.com/code/farzadnekouei/customer-segmentation-recommendation-system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Segmentation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Pouya Ebrahimi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Table of Contents</a:t>
            </a:r>
            <a:endParaRPr sz="4000"/>
          </a:p>
        </p:txBody>
      </p:sp>
      <p:sp>
        <p:nvSpPr>
          <p:cNvPr id="92" name="Google Shape;92;p14"/>
          <p:cNvSpPr txBox="1"/>
          <p:nvPr>
            <p:ph idx="2" type="body"/>
          </p:nvPr>
        </p:nvSpPr>
        <p:spPr>
          <a:xfrm>
            <a:off x="4703825" y="724200"/>
            <a:ext cx="44403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DSM Method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Data Source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Problem Identification Statement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Data Wrangling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Exploratory Data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Feature Engineering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Modeling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Data Storytelling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SzPts val="4200"/>
              <a:buAutoNum type="arabicParenR"/>
            </a:pPr>
            <a:r>
              <a:rPr lang="en"/>
              <a:t>DSM Method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ackground pointer shape in timeline graphic" id="102" name="Google Shape;102;p16"/>
          <p:cNvSpPr/>
          <p:nvPr/>
        </p:nvSpPr>
        <p:spPr>
          <a:xfrm>
            <a:off x="340934" y="2199000"/>
            <a:ext cx="1872300" cy="745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 txBox="1"/>
          <p:nvPr>
            <p:ph idx="4294967295" type="body"/>
          </p:nvPr>
        </p:nvSpPr>
        <p:spPr>
          <a:xfrm>
            <a:off x="340923" y="2336550"/>
            <a:ext cx="1455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Problem Statement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04" name="Google Shape;104;p16"/>
          <p:cNvGrpSpPr/>
          <p:nvPr/>
        </p:nvGrpSpPr>
        <p:grpSpPr>
          <a:xfrm>
            <a:off x="969270" y="1610215"/>
            <a:ext cx="198900" cy="593656"/>
            <a:chOff x="777447" y="1610215"/>
            <a:chExt cx="198900" cy="593656"/>
          </a:xfrm>
        </p:grpSpPr>
        <p:cxnSp>
          <p:nvCxnSpPr>
            <p:cNvPr id="105" name="Google Shape;105;p16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6" name="Google Shape;106;p16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16"/>
          <p:cNvSpPr txBox="1"/>
          <p:nvPr>
            <p:ph idx="4294967295" type="body"/>
          </p:nvPr>
        </p:nvSpPr>
        <p:spPr>
          <a:xfrm>
            <a:off x="318375" y="385667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Identifying</a:t>
            </a:r>
            <a:r>
              <a:rPr lang="en" sz="1600"/>
              <a:t> Correct Problem to Solve</a:t>
            </a:r>
            <a:endParaRPr sz="1600"/>
          </a:p>
        </p:txBody>
      </p:sp>
      <p:sp>
        <p:nvSpPr>
          <p:cNvPr descr="Background pointer shape in timeline graphic" id="108" name="Google Shape;108;p16"/>
          <p:cNvSpPr/>
          <p:nvPr/>
        </p:nvSpPr>
        <p:spPr>
          <a:xfrm>
            <a:off x="1817054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 txBox="1"/>
          <p:nvPr>
            <p:ph idx="4294967295" type="body"/>
          </p:nvPr>
        </p:nvSpPr>
        <p:spPr>
          <a:xfrm>
            <a:off x="2126317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Data Wrangling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10" name="Google Shape;110;p16"/>
          <p:cNvGrpSpPr/>
          <p:nvPr/>
        </p:nvGrpSpPr>
        <p:grpSpPr>
          <a:xfrm>
            <a:off x="2684632" y="2938958"/>
            <a:ext cx="198900" cy="593656"/>
            <a:chOff x="2223534" y="2938958"/>
            <a:chExt cx="198900" cy="593656"/>
          </a:xfrm>
        </p:grpSpPr>
        <p:cxnSp>
          <p:nvCxnSpPr>
            <p:cNvPr id="111" name="Google Shape;111;p16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" name="Google Shape;112;p16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6"/>
          <p:cNvSpPr txBox="1"/>
          <p:nvPr>
            <p:ph idx="4294967295" type="body"/>
          </p:nvPr>
        </p:nvSpPr>
        <p:spPr>
          <a:xfrm>
            <a:off x="1244337" y="3757725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Cleaning the data by filling Null values and changing data types</a:t>
            </a:r>
            <a:endParaRPr sz="1600"/>
          </a:p>
        </p:txBody>
      </p:sp>
      <p:sp>
        <p:nvSpPr>
          <p:cNvPr descr="Background pointer shape in timeline graphic" id="114" name="Google Shape;114;p16"/>
          <p:cNvSpPr/>
          <p:nvPr/>
        </p:nvSpPr>
        <p:spPr>
          <a:xfrm>
            <a:off x="347197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 txBox="1"/>
          <p:nvPr>
            <p:ph idx="4294967295" type="body"/>
          </p:nvPr>
        </p:nvSpPr>
        <p:spPr>
          <a:xfrm>
            <a:off x="3767755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EDA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16" name="Google Shape;116;p16"/>
          <p:cNvGrpSpPr/>
          <p:nvPr/>
        </p:nvGrpSpPr>
        <p:grpSpPr>
          <a:xfrm>
            <a:off x="4319545" y="1610215"/>
            <a:ext cx="198900" cy="593656"/>
            <a:chOff x="3918084" y="1610215"/>
            <a:chExt cx="198900" cy="593656"/>
          </a:xfrm>
        </p:grpSpPr>
        <p:cxnSp>
          <p:nvCxnSpPr>
            <p:cNvPr id="117" name="Google Shape;117;p16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" name="Google Shape;118;p16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6"/>
          <p:cNvSpPr txBox="1"/>
          <p:nvPr>
            <p:ph idx="4294967295" type="body"/>
          </p:nvPr>
        </p:nvSpPr>
        <p:spPr>
          <a:xfrm>
            <a:off x="3304094" y="385667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Exploratory Data Analysis and testing Hypothesis</a:t>
            </a:r>
            <a:endParaRPr sz="1600"/>
          </a:p>
        </p:txBody>
      </p:sp>
      <p:sp>
        <p:nvSpPr>
          <p:cNvPr descr="Background pointer shape in timeline graphic" id="120" name="Google Shape;120;p16"/>
          <p:cNvSpPr/>
          <p:nvPr/>
        </p:nvSpPr>
        <p:spPr>
          <a:xfrm>
            <a:off x="512689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6"/>
          <p:cNvSpPr txBox="1"/>
          <p:nvPr>
            <p:ph idx="4294967295" type="body"/>
          </p:nvPr>
        </p:nvSpPr>
        <p:spPr>
          <a:xfrm>
            <a:off x="5416699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Feature Engineering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22" name="Google Shape;122;p16"/>
          <p:cNvGrpSpPr/>
          <p:nvPr/>
        </p:nvGrpSpPr>
        <p:grpSpPr>
          <a:xfrm>
            <a:off x="5973070" y="2938958"/>
            <a:ext cx="198900" cy="593656"/>
            <a:chOff x="5958946" y="2938958"/>
            <a:chExt cx="198900" cy="593656"/>
          </a:xfrm>
        </p:grpSpPr>
        <p:cxnSp>
          <p:nvCxnSpPr>
            <p:cNvPr id="123" name="Google Shape;123;p16"/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" name="Google Shape;124;p16"/>
            <p:cNvSpPr/>
            <p:nvPr/>
          </p:nvSpPr>
          <p:spPr>
            <a:xfrm flipH="1" rot="10800000">
              <a:off x="5958946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6"/>
          <p:cNvSpPr txBox="1"/>
          <p:nvPr>
            <p:ph idx="4294967295" type="body"/>
          </p:nvPr>
        </p:nvSpPr>
        <p:spPr>
          <a:xfrm>
            <a:off x="5126902" y="3757725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Add new attributes and make data ready for modeling</a:t>
            </a:r>
            <a:endParaRPr sz="1600"/>
          </a:p>
        </p:txBody>
      </p:sp>
      <p:sp>
        <p:nvSpPr>
          <p:cNvPr descr="Background pointer shape in timeline graphic" id="126" name="Google Shape;126;p16"/>
          <p:cNvSpPr/>
          <p:nvPr/>
        </p:nvSpPr>
        <p:spPr>
          <a:xfrm>
            <a:off x="678181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 txBox="1"/>
          <p:nvPr>
            <p:ph idx="4294967295" type="body"/>
          </p:nvPr>
        </p:nvSpPr>
        <p:spPr>
          <a:xfrm>
            <a:off x="7111512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Modeling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28" name="Google Shape;128;p16"/>
          <p:cNvGrpSpPr/>
          <p:nvPr/>
        </p:nvGrpSpPr>
        <p:grpSpPr>
          <a:xfrm>
            <a:off x="7669807" y="1610215"/>
            <a:ext cx="198900" cy="593656"/>
            <a:chOff x="3918084" y="1610215"/>
            <a:chExt cx="198900" cy="593656"/>
          </a:xfrm>
        </p:grpSpPr>
        <p:cxnSp>
          <p:nvCxnSpPr>
            <p:cNvPr id="129" name="Google Shape;129;p16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0" name="Google Shape;130;p16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16"/>
          <p:cNvSpPr txBox="1"/>
          <p:nvPr>
            <p:ph idx="4294967295" type="body"/>
          </p:nvPr>
        </p:nvSpPr>
        <p:spPr>
          <a:xfrm>
            <a:off x="6685979" y="385667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Finding best machine learning model with optimal values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2) Data Source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For this project, I have used a dataset from </a:t>
            </a:r>
            <a:r>
              <a:rPr lang="en" sz="2000" u="sng">
                <a:solidFill>
                  <a:schemeClr val="hlink"/>
                </a:solidFill>
                <a:hlinkClick r:id="rId3"/>
              </a:rPr>
              <a:t>Kaggle.com</a:t>
            </a:r>
            <a:r>
              <a:rPr lang="en" sz="2000"/>
              <a:t> website.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Here is a link to the dataset on </a:t>
            </a:r>
            <a:r>
              <a:rPr lang="en" sz="2000" u="sng">
                <a:solidFill>
                  <a:schemeClr val="hlink"/>
                </a:solidFill>
                <a:hlinkClick r:id="rId4"/>
              </a:rPr>
              <a:t>Kaggle.com</a:t>
            </a:r>
            <a:r>
              <a:rPr lang="en" sz="2000"/>
              <a:t> 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hlinkClick r:id="rId5"/>
              </a:rPr>
              <a:t>https://www.kaggle.com/code/farzadnekouei/customer-segmentation-recommendation-system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3)  Problem Identification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DSM Step 1: Problem Identification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To expand business, an online retailing company wants to have a comprehensive analysis of the customers and products. Therefore, the company wants to segment customers based on shopping behavior and then recommend them most related products.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The online retail company’s marketing team, executive sales manager, and the IT Development team are stakeholders for this project. 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4)  Data Wrangling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DSM Step 2: Data Wrangling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The </a:t>
            </a:r>
            <a:r>
              <a:rPr lang="en" sz="2000"/>
              <a:t>received</a:t>
            </a:r>
            <a:r>
              <a:rPr lang="en" sz="2000"/>
              <a:t> dataset has so many Null values. Most of these Null values are ‘Unit Price’ of an item which is recorder as 0. As the first step of Data Wrangling, I will be removing or imputing values for those rows with Null values.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Data Type is another problem of this dataset. ‘Date’ column is of string type, which needs to be converted to datetime type.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There are some outliers as well, but most of them come from wrong inputs. Simply, I will be removing the outliers.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type="title"/>
          </p:nvPr>
        </p:nvSpPr>
        <p:spPr>
          <a:xfrm>
            <a:off x="432925" y="2152350"/>
            <a:ext cx="86109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5)  EDA - Exploratory Data Analysis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DSM Step 3: EDA - Exploratory Data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 </a:t>
            </a:r>
            <a:r>
              <a:rPr lang="en" sz="2000"/>
              <a:t>start EDA by drawing bar charts, scatterplots, heatmaps, and line plots.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Then a Null Hypothesis and Alternative Hypothesis will be tested.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Discovering correlation between attributes will be considered as well.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 Bar Chart showing top 10 best selling products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77" name="Google Shape;17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350" y="1210675"/>
            <a:ext cx="6723925" cy="353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 Scatterplot shows Quantity vs Total Spent per Line Item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83" name="Google Shape;18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750" y="1199800"/>
            <a:ext cx="6072599" cy="356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 Line-Plot shows monthly sales revenue trend for the online </a:t>
            </a:r>
            <a:r>
              <a:rPr lang="en" sz="2000"/>
              <a:t>store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89" name="Google Shape;18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9200" y="1258600"/>
            <a:ext cx="6024674" cy="353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 Heatmap which shows Sales Revenue by Day of Week &amp; Hour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95" name="Google Shape;19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675" y="1151050"/>
            <a:ext cx="7126014" cy="382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6)  Feature Engineering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DSM Step 4: Feature Engineering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In this step, we preprocess our dataframe and try to add new attributes, and remove those attributes which are unnecessary for a machine learning model to learn. For example, I removed ‘Country’ column since all transactions happened in United Kingdom.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 have added three columns to my dataframe. Those columns are Recency, Frequency, and Monetary which are very important for this type of analysis. </a:t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7)  Machine Learning Modeling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DSM Step 5: Machine Learning Modeling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Customer Segmentation is an Unsupervised Machine Learning problem.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 have worked on 2 different unsupervised machine </a:t>
            </a:r>
            <a:r>
              <a:rPr lang="en" sz="2000"/>
              <a:t>learning</a:t>
            </a:r>
            <a:r>
              <a:rPr lang="en" sz="2000"/>
              <a:t> models: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" sz="2000"/>
              <a:t>K-Means Clustering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" sz="2000"/>
              <a:t>Gaussian</a:t>
            </a:r>
            <a:r>
              <a:rPr lang="en" sz="2000"/>
              <a:t> Mixture Model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 txBox="1"/>
          <p:nvPr>
            <p:ph type="title"/>
          </p:nvPr>
        </p:nvSpPr>
        <p:spPr>
          <a:xfrm>
            <a:off x="311700" y="410000"/>
            <a:ext cx="8520600" cy="8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K-Means Clustering: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 have found Silhouette score as 7 which means there are 7 clusters for this online retail store customers.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An Excel sheet is exported and provided at my GitHub repo with all customers assigned to associated clusters.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GMM - Gaussian Mixture Model: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This model has soft clustering. In other words, it assigns a set of probabilities to each customer. For example, a customer can belong to Electronics segment by 70% and Household segment by 30%.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8)  Data Storytelling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DSM Step 6: Data Storytelling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We have two results for this project. One is from K-Means Clustering and the other is from GMM.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An Excel sheet is exported and saved at my GitHub repo which shows each customer and associated cluster.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Also, as the result of GMM,  a set of probabilities is provided for each customer which can be found in my GitHub repo as well.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